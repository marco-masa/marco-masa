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954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030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-1"/>
            <a:ext cx="3794760" cy="6998305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2233" y="812058"/>
            <a:ext cx="33266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AE6DE"/>
                </a:solidFill>
                <a:latin typeface="Arial"/>
              </a:defRPr>
            </a:pPr>
            <a:r>
              <a:t>PROJETO</a:t>
            </a:r>
          </a:p>
          <a:p>
            <a:pPr algn="ctr">
              <a:spcBef>
                <a:spcPts val="1200"/>
              </a:spcBef>
              <a:defRPr sz="3800" b="1">
                <a:solidFill>
                  <a:srgbClr val="FFFFFF"/>
                </a:solidFill>
                <a:latin typeface="Arial"/>
              </a:defRPr>
            </a:pPr>
            <a:r>
              <a:rPr lang="pt-BR" dirty="0" smtClean="0"/>
              <a:t>Lista</a:t>
            </a:r>
            <a:r>
              <a:rPr smtClean="0"/>
              <a:t> de</a:t>
            </a:r>
            <a:r>
              <a:rPr lang="pt-BR" dirty="0" smtClean="0"/>
              <a:t> A</a:t>
            </a:r>
            <a:r>
              <a:rPr smtClean="0"/>
              <a:t>migos</a:t>
            </a:r>
            <a:endParaRPr/>
          </a:p>
          <a:p>
            <a:pPr algn="ctr">
              <a:spcBef>
                <a:spcPts val="1800"/>
              </a:spcBef>
              <a:defRPr sz="1900">
                <a:solidFill>
                  <a:srgbClr val="FFFFFF"/>
                </a:solidFill>
                <a:latin typeface="Arial"/>
              </a:defRPr>
            </a:pPr>
            <a:r>
              <a:t>CRUD + Sistema de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143000"/>
            <a:ext cx="6995160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6058"/>
                </a:solidFill>
                <a:latin typeface="Arial"/>
              </a:defRPr>
            </a:pPr>
            <a:r>
              <a:t>Apresentação </a:t>
            </a:r>
            <a:r>
              <a:rPr/>
              <a:t>do </a:t>
            </a:r>
            <a:r>
              <a:rPr smtClean="0"/>
              <a:t>Projeto</a:t>
            </a:r>
            <a:endParaRPr lang="pt-BR" dirty="0" smtClean="0"/>
          </a:p>
          <a:p>
            <a:pPr>
              <a:defRPr sz="3200" b="1">
                <a:solidFill>
                  <a:srgbClr val="006058"/>
                </a:solidFill>
                <a:latin typeface="Arial"/>
              </a:defRPr>
            </a:pPr>
            <a:endParaRPr/>
          </a:p>
          <a:p>
            <a:pPr algn="ctr">
              <a:spcBef>
                <a:spcPts val="1400"/>
              </a:spcBef>
              <a:defRPr sz="2300">
                <a:solidFill>
                  <a:srgbClr val="282828"/>
                </a:solidFill>
                <a:latin typeface="Arial"/>
              </a:defRPr>
            </a:pPr>
            <a:r>
              <a:rPr lang="pt-BR" dirty="0" smtClean="0"/>
              <a:t>Desenvolvimento de Sistemas</a:t>
            </a:r>
            <a:r>
              <a:rPr smtClean="0"/>
              <a:t> </a:t>
            </a:r>
            <a:r>
              <a:t>II</a:t>
            </a:r>
          </a:p>
          <a:p>
            <a:pPr algn="ctr">
              <a:spcBef>
                <a:spcPts val="1800"/>
              </a:spcBef>
              <a:defRPr sz="1900">
                <a:solidFill>
                  <a:srgbClr val="646464"/>
                </a:solidFill>
                <a:latin typeface="Arial"/>
              </a:defRPr>
            </a:pPr>
            <a:r>
              <a:t>Cadastro, consulta, atualização e exclusão de amigos, com autenticação e controle de </a:t>
            </a:r>
            <a:r>
              <a:rPr/>
              <a:t>acesso</a:t>
            </a:r>
            <a:r>
              <a:rPr smtClean="0"/>
              <a:t>.</a:t>
            </a: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6588252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643878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25373" y="109728"/>
            <a:ext cx="53409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Visão </a:t>
            </a:r>
            <a:r>
              <a:rPr lang="pt-BR" dirty="0" smtClean="0"/>
              <a:t>G</a:t>
            </a:r>
            <a:r>
              <a:rPr smtClean="0"/>
              <a:t>eral </a:t>
            </a:r>
            <a:r>
              <a:rPr/>
              <a:t>da </a:t>
            </a:r>
            <a:r>
              <a:rPr lang="pt-BR" dirty="0" smtClean="0"/>
              <a:t>A</a:t>
            </a:r>
            <a:r>
              <a:rPr smtClean="0"/>
              <a:t>presentação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12663"/>
            <a:ext cx="10698480" cy="4808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t>• Objetivo e proposta do sistema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t>• Tecnologias e estrutura utilizada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t>• Funcionamento do sistema de login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t>• Controle de acesso por sessão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t>• CRUD de amigos: Create, Read, Update e Delete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t>• Fluxo completo de utilização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t>• Testes e resultados observados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t>• Conclusão e aprendizados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46811" y="109728"/>
            <a:ext cx="34980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Objetivo </a:t>
            </a:r>
            <a:r>
              <a:rPr/>
              <a:t>do </a:t>
            </a:r>
            <a:r>
              <a:rPr lang="pt-BR" dirty="0" smtClean="0"/>
              <a:t>P</a:t>
            </a:r>
            <a:r>
              <a:rPr smtClean="0"/>
              <a:t>rojeto</a:t>
            </a: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6356" y="1156058"/>
            <a:ext cx="10698480" cy="1439091"/>
          </a:xfrm>
          <a:prstGeom prst="roundRect">
            <a:avLst/>
          </a:prstGeom>
          <a:solidFill>
            <a:srgbClr val="E0F2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800" b="1">
                <a:solidFill>
                  <a:srgbClr val="006058"/>
                </a:solidFill>
              </a:defRPr>
            </a:pPr>
            <a:r>
              <a:rPr/>
              <a:t>Objetivo </a:t>
            </a:r>
            <a:r>
              <a:rPr smtClean="0"/>
              <a:t>geral</a:t>
            </a:r>
            <a:endParaRPr lang="pt-BR" dirty="0" smtClean="0"/>
          </a:p>
          <a:p>
            <a:pPr algn="ctr">
              <a:defRPr sz="1800" b="1">
                <a:solidFill>
                  <a:srgbClr val="006058"/>
                </a:solidFill>
              </a:defRPr>
            </a:pPr>
            <a:endParaRPr sz="800"/>
          </a:p>
          <a:p>
            <a:pPr algn="ctr">
              <a:defRPr sz="1500">
                <a:solidFill>
                  <a:srgbClr val="282828"/>
                </a:solidFill>
              </a:defRPr>
            </a:pPr>
            <a:r>
              <a:t>Desenvolver uma aplicação web para gerenciar um cadastro de amigos, permitindo realizar as operações básicas de um CRUD e restringindo o acesso às funcionalidades por meio de login.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7945" y="2788920"/>
            <a:ext cx="10241280" cy="341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Permitir a autenticação de um usuário.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Controlar o acesso às páginas do sistema por sessão.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Realizar cadastro de novos amigos.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Consultar os amigos cadastrados.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Alterar os dados de um amigo existente.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Excluir um amigo do cadastro.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Persistir os dados em um banco de dados MySQL.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39887" y="109728"/>
            <a:ext cx="63119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Tecnologias </a:t>
            </a:r>
            <a:r>
              <a:rPr/>
              <a:t>e </a:t>
            </a:r>
            <a:r>
              <a:rPr lang="pt-BR" dirty="0" smtClean="0"/>
              <a:t>R</a:t>
            </a:r>
            <a:r>
              <a:rPr smtClean="0"/>
              <a:t>ecursos </a:t>
            </a:r>
            <a:r>
              <a:rPr lang="pt-BR" dirty="0" smtClean="0"/>
              <a:t>U</a:t>
            </a:r>
            <a:r>
              <a:rPr smtClean="0"/>
              <a:t>tilizados</a:t>
            </a: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73197" y="1530546"/>
            <a:ext cx="3246120" cy="1508760"/>
          </a:xfrm>
          <a:prstGeom prst="roundRect">
            <a:avLst/>
          </a:prstGeom>
          <a:solidFill>
            <a:srgbClr val="E0F2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800" b="1">
                <a:solidFill>
                  <a:srgbClr val="006058"/>
                </a:solidFill>
              </a:defRPr>
            </a:pPr>
            <a:r>
              <a:rPr smtClean="0"/>
              <a:t>PHP</a:t>
            </a:r>
            <a:endParaRPr lang="pt-BR" dirty="0" smtClean="0"/>
          </a:p>
          <a:p>
            <a:pPr algn="ctr">
              <a:defRPr sz="18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500">
                <a:solidFill>
                  <a:srgbClr val="282828"/>
                </a:solidFill>
              </a:defRPr>
            </a:pPr>
            <a:r>
              <a:t>Lógica da aplicação, autenticação, sessões e processamento das operações CRUD.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7917" y="1530546"/>
            <a:ext cx="3246120" cy="1508760"/>
          </a:xfrm>
          <a:prstGeom prst="roundRect">
            <a:avLst/>
          </a:prstGeom>
          <a:solidFill>
            <a:srgbClr val="E0F2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800" b="1">
                <a:solidFill>
                  <a:srgbClr val="006058"/>
                </a:solidFill>
              </a:defRPr>
            </a:pPr>
            <a:r>
              <a:t>MySQL </a:t>
            </a:r>
            <a:r>
              <a:rPr/>
              <a:t>/ </a:t>
            </a:r>
            <a:r>
              <a:rPr smtClean="0"/>
              <a:t>MySQLi</a:t>
            </a:r>
            <a:endParaRPr lang="pt-BR" dirty="0" smtClean="0"/>
          </a:p>
          <a:p>
            <a:pPr algn="ctr">
              <a:defRPr sz="18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500">
                <a:solidFill>
                  <a:srgbClr val="282828"/>
                </a:solidFill>
              </a:defRPr>
            </a:pPr>
            <a:r>
              <a:t>Persistência dos usuários e dos registros de amigos.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2637" y="1530546"/>
            <a:ext cx="3246120" cy="1508760"/>
          </a:xfrm>
          <a:prstGeom prst="roundRect">
            <a:avLst/>
          </a:prstGeom>
          <a:solidFill>
            <a:srgbClr val="E0F2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800" b="1">
                <a:solidFill>
                  <a:srgbClr val="006058"/>
                </a:solidFill>
              </a:defRPr>
            </a:pPr>
            <a:r>
              <a:rPr smtClean="0"/>
              <a:t>HTML</a:t>
            </a:r>
            <a:endParaRPr lang="pt-BR" dirty="0" smtClean="0"/>
          </a:p>
          <a:p>
            <a:pPr algn="ctr">
              <a:defRPr sz="18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500">
                <a:solidFill>
                  <a:srgbClr val="282828"/>
                </a:solidFill>
              </a:defRPr>
            </a:pPr>
            <a:r>
              <a:t>Estrutura das páginas e formulários.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197" y="3773019"/>
            <a:ext cx="3246120" cy="1508760"/>
          </a:xfrm>
          <a:prstGeom prst="roundRect">
            <a:avLst/>
          </a:prstGeom>
          <a:solidFill>
            <a:srgbClr val="E0F2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800" b="1">
                <a:solidFill>
                  <a:srgbClr val="006058"/>
                </a:solidFill>
              </a:defRPr>
            </a:pPr>
            <a:r>
              <a:rPr smtClean="0"/>
              <a:t>W3.CSS</a:t>
            </a:r>
            <a:endParaRPr lang="pt-BR" dirty="0" smtClean="0"/>
          </a:p>
          <a:p>
            <a:pPr algn="ctr">
              <a:defRPr sz="18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500">
                <a:solidFill>
                  <a:srgbClr val="282828"/>
                </a:solidFill>
              </a:defRPr>
            </a:pPr>
            <a:r>
              <a:t>Estilização e organização visual das telas.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7917" y="3773019"/>
            <a:ext cx="3246120" cy="1508760"/>
          </a:xfrm>
          <a:prstGeom prst="roundRect">
            <a:avLst/>
          </a:prstGeom>
          <a:solidFill>
            <a:srgbClr val="E0F2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800" b="1">
                <a:solidFill>
                  <a:srgbClr val="006058"/>
                </a:solidFill>
              </a:defRPr>
            </a:pPr>
            <a:r>
              <a:rPr/>
              <a:t>Font </a:t>
            </a:r>
            <a:r>
              <a:rPr smtClean="0"/>
              <a:t>Awesome</a:t>
            </a:r>
            <a:endParaRPr lang="pt-BR" dirty="0" smtClean="0"/>
          </a:p>
          <a:p>
            <a:pPr algn="ctr">
              <a:defRPr sz="18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500">
                <a:solidFill>
                  <a:srgbClr val="282828"/>
                </a:solidFill>
              </a:defRPr>
            </a:pPr>
            <a:r>
              <a:t>Ícones utilizados nos botões e ações.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2637" y="3773019"/>
            <a:ext cx="3246120" cy="1508760"/>
          </a:xfrm>
          <a:prstGeom prst="roundRect">
            <a:avLst/>
          </a:prstGeom>
          <a:solidFill>
            <a:srgbClr val="E0F2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800" b="1">
                <a:solidFill>
                  <a:srgbClr val="006058"/>
                </a:solidFill>
              </a:defRPr>
            </a:pPr>
            <a:r>
              <a:rPr/>
              <a:t>Sessão </a:t>
            </a:r>
            <a:r>
              <a:rPr smtClean="0"/>
              <a:t>PHP</a:t>
            </a:r>
            <a:endParaRPr lang="pt-BR" dirty="0" smtClean="0"/>
          </a:p>
          <a:p>
            <a:pPr algn="ctr">
              <a:defRPr sz="18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500">
                <a:solidFill>
                  <a:srgbClr val="282828"/>
                </a:solidFill>
              </a:defRPr>
            </a:pPr>
            <a:r>
              <a:t>Controle de autenticação e proteção das páginas.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73055" y="109728"/>
            <a:ext cx="56455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Estrutura </a:t>
            </a:r>
            <a:r>
              <a:rPr/>
              <a:t>e </a:t>
            </a:r>
            <a:r>
              <a:rPr lang="pt-BR" dirty="0" smtClean="0"/>
              <a:t>F</a:t>
            </a:r>
            <a:r>
              <a:rPr smtClean="0"/>
              <a:t>luxo </a:t>
            </a:r>
            <a:r>
              <a:rPr/>
              <a:t>da </a:t>
            </a:r>
            <a:r>
              <a:rPr lang="pt-BR" dirty="0" smtClean="0"/>
              <a:t>A</a:t>
            </a:r>
            <a:r>
              <a:rPr smtClean="0"/>
              <a:t>plicação</a:t>
            </a: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101621"/>
            <a:ext cx="3200400" cy="1188720"/>
          </a:xfrm>
          <a:prstGeom prst="roundRect">
            <a:avLst/>
          </a:prstGeom>
          <a:solidFill>
            <a:srgbClr val="E0F2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800" b="1">
                <a:solidFill>
                  <a:srgbClr val="006058"/>
                </a:solidFill>
              </a:defRPr>
            </a:pPr>
            <a:r>
              <a:rPr smtClean="0"/>
              <a:t>Interface</a:t>
            </a:r>
            <a:endParaRPr lang="pt-BR" dirty="0" smtClean="0"/>
          </a:p>
          <a:p>
            <a:pPr algn="ctr">
              <a:defRPr sz="18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500">
                <a:solidFill>
                  <a:srgbClr val="282828"/>
                </a:solidFill>
              </a:defRPr>
            </a:pPr>
            <a:r>
              <a:t>Páginas PHP + HTML + W3.CSS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101621"/>
            <a:ext cx="3200400" cy="1188720"/>
          </a:xfrm>
          <a:prstGeom prst="roundRect">
            <a:avLst/>
          </a:prstGeom>
          <a:solidFill>
            <a:srgbClr val="E0F2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800" b="1">
                <a:solidFill>
                  <a:srgbClr val="006058"/>
                </a:solidFill>
              </a:defRPr>
            </a:pPr>
            <a:r>
              <a:rPr smtClean="0"/>
              <a:t>Processamento</a:t>
            </a:r>
            <a:endParaRPr lang="pt-BR" dirty="0" smtClean="0"/>
          </a:p>
          <a:p>
            <a:pPr algn="ctr">
              <a:defRPr sz="18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500">
                <a:solidFill>
                  <a:srgbClr val="282828"/>
                </a:solidFill>
              </a:defRPr>
            </a:pPr>
            <a:r>
              <a:t>Arquivos *Action.php recebem os formulários e executam as operações.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101621"/>
            <a:ext cx="3200400" cy="1188720"/>
          </a:xfrm>
          <a:prstGeom prst="roundRect">
            <a:avLst/>
          </a:prstGeom>
          <a:solidFill>
            <a:srgbClr val="E0F2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800" b="1">
                <a:solidFill>
                  <a:srgbClr val="006058"/>
                </a:solidFill>
              </a:defRPr>
            </a:pPr>
            <a:r>
              <a:rPr smtClean="0"/>
              <a:t>Persistência</a:t>
            </a:r>
            <a:endParaRPr lang="pt-BR" dirty="0" smtClean="0"/>
          </a:p>
          <a:p>
            <a:pPr algn="ctr">
              <a:defRPr sz="18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500">
                <a:solidFill>
                  <a:srgbClr val="282828"/>
                </a:solidFill>
              </a:defRPr>
            </a:pPr>
            <a:r>
              <a:t>conexaoBD.php abre a conexão com o banco MySQL.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10670"/>
            <a:ext cx="2743200" cy="1143000"/>
          </a:xfrm>
          <a:prstGeom prst="roundRect">
            <a:avLst/>
          </a:prstGeom>
          <a:solidFill>
            <a:srgbClr val="E0F2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800" b="1">
                <a:solidFill>
                  <a:srgbClr val="006058"/>
                </a:solidFill>
              </a:defRPr>
            </a:pPr>
            <a:r>
              <a:t>1</a:t>
            </a:r>
            <a:r>
              <a:rPr/>
              <a:t>. </a:t>
            </a:r>
            <a:r>
              <a:rPr smtClean="0"/>
              <a:t>Login</a:t>
            </a:r>
            <a:endParaRPr lang="pt-BR" dirty="0" smtClean="0"/>
          </a:p>
          <a:p>
            <a:pPr algn="ctr">
              <a:defRPr sz="18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500">
                <a:solidFill>
                  <a:srgbClr val="282828"/>
                </a:solidFill>
              </a:defRPr>
            </a:pPr>
            <a:r>
              <a:rPr/>
              <a:t>index.php </a:t>
            </a:r>
            <a:r>
              <a:rPr lang="pt-BR" dirty="0" smtClean="0"/>
              <a:t>-&gt;</a:t>
            </a:r>
            <a:r>
              <a:rPr smtClean="0"/>
              <a:t> </a:t>
            </a:r>
            <a:r>
              <a:t>loginAction.php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2185" y="2810670"/>
            <a:ext cx="3313611" cy="1143000"/>
          </a:xfrm>
          <a:prstGeom prst="roundRect">
            <a:avLst/>
          </a:prstGeom>
          <a:solidFill>
            <a:srgbClr val="E0F2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800" b="1">
                <a:solidFill>
                  <a:srgbClr val="006058"/>
                </a:solidFill>
              </a:defRPr>
            </a:pPr>
            <a:r>
              <a:t>2</a:t>
            </a:r>
            <a:r>
              <a:rPr/>
              <a:t>. </a:t>
            </a:r>
            <a:r>
              <a:rPr smtClean="0"/>
              <a:t>Acesso</a:t>
            </a:r>
            <a:endParaRPr lang="pt-BR" dirty="0" smtClean="0"/>
          </a:p>
          <a:p>
            <a:pPr algn="ctr">
              <a:defRPr sz="18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500">
                <a:solidFill>
                  <a:srgbClr val="282828"/>
                </a:solidFill>
              </a:defRPr>
            </a:pPr>
            <a:r>
              <a:rPr/>
              <a:t>verificarAcesso.php </a:t>
            </a:r>
            <a:r>
              <a:rPr lang="pt-BR" dirty="0" smtClean="0"/>
              <a:t>-&gt;</a:t>
            </a:r>
            <a:r>
              <a:rPr smtClean="0"/>
              <a:t> </a:t>
            </a:r>
            <a:r>
              <a:t>sessão logado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75469" y="2810670"/>
            <a:ext cx="3200400" cy="1143000"/>
          </a:xfrm>
          <a:prstGeom prst="roundRect">
            <a:avLst/>
          </a:prstGeom>
          <a:solidFill>
            <a:srgbClr val="E0F2F1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800" b="1">
                <a:solidFill>
                  <a:srgbClr val="006058"/>
                </a:solidFill>
              </a:defRPr>
            </a:pPr>
            <a:r>
              <a:t>3</a:t>
            </a:r>
            <a:r>
              <a:rPr/>
              <a:t>. </a:t>
            </a:r>
            <a:r>
              <a:rPr smtClean="0"/>
              <a:t>CRUD</a:t>
            </a:r>
            <a:endParaRPr lang="pt-BR" dirty="0" smtClean="0"/>
          </a:p>
          <a:p>
            <a:pPr algn="ctr">
              <a:defRPr sz="18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500">
                <a:solidFill>
                  <a:srgbClr val="282828"/>
                </a:solidFill>
              </a:defRPr>
            </a:pPr>
            <a:r>
              <a:t>cadastro / listar / atualizar / excluir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354285"/>
            <a:ext cx="10149840" cy="1907177"/>
          </a:xfrm>
          <a:prstGeom prst="roundRect">
            <a:avLst/>
          </a:prstGeom>
          <a:solidFill>
            <a:srgbClr val="1E2326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>
              <a:defRPr sz="1400" b="1">
                <a:solidFill>
                  <a:srgbClr val="96DCD2"/>
                </a:solidFill>
              </a:defRPr>
            </a:pPr>
            <a:r>
              <a:t>Arquivos principais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index.php            → tela de login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loginAction.php      → validação do login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verificarAcesso.php  → proteção das páginas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principal.php        → menu do sistema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cadastro*.php        → Create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listar.php           → Read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atualizar*.php       → Update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excluir*.php         → Delete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0430" y="109728"/>
            <a:ext cx="305083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Sistema </a:t>
            </a:r>
            <a:r>
              <a:t>de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Primeira etapa: autenticação do usuário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021" y="1280160"/>
            <a:ext cx="6638544" cy="5038344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in.png"/>
          <p:cNvPicPr>
            <a:picLocks noChangeAspect="1"/>
          </p:cNvPicPr>
          <p:nvPr/>
        </p:nvPicPr>
        <p:blipFill>
          <a:blip r:embed="rId2"/>
          <a:srcRect l="32696" t="10421" r="34440" b="11070"/>
          <a:stretch>
            <a:fillRect/>
          </a:stretch>
        </p:blipFill>
        <p:spPr>
          <a:xfrm>
            <a:off x="2310813" y="2073541"/>
            <a:ext cx="3108961" cy="34515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89380" y="1550688"/>
            <a:ext cx="4160520" cy="420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O usuário informa seu nome de usuário e senha.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Os dados são enviados para o processamento do login.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O sistema consulta o usuário cadastrado no banco de dados.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Quando os dados são válidos, a sessão é criada e o acesso é liberado.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Em caso de dados inválidos, o sistema apresenta uma mensagem de acesso.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01384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4481" y="109728"/>
            <a:ext cx="342273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Controle </a:t>
            </a:r>
            <a:r>
              <a:rPr/>
              <a:t>de </a:t>
            </a:r>
            <a:r>
              <a:rPr lang="pt-BR" dirty="0" smtClean="0"/>
              <a:t>A</a:t>
            </a:r>
            <a:r>
              <a:rPr smtClean="0"/>
              <a:t>cesso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A aplicação verifica se existe uma sessão autenticada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1161288"/>
            <a:ext cx="6364224" cy="4535424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cesso_negado.png"/>
          <p:cNvPicPr>
            <a:picLocks noChangeAspect="1"/>
          </p:cNvPicPr>
          <p:nvPr/>
        </p:nvPicPr>
        <p:blipFill>
          <a:blip r:embed="rId2"/>
          <a:srcRect l="26926" t="25256" r="15371" b="25100"/>
          <a:stretch>
            <a:fillRect/>
          </a:stretch>
        </p:blipFill>
        <p:spPr>
          <a:xfrm>
            <a:off x="1538152" y="2552647"/>
            <a:ext cx="4513216" cy="17527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0194" y="1406436"/>
            <a:ext cx="4160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t>O que </a:t>
            </a:r>
            <a:r>
              <a:rPr/>
              <a:t>acontece</a:t>
            </a:r>
            <a:r>
              <a:rPr smtClean="0"/>
              <a:t>?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t>As páginas protegidas </a:t>
            </a:r>
            <a:r>
              <a:rPr/>
              <a:t>verificam </a:t>
            </a:r>
            <a:r>
              <a:rPr smtClean="0"/>
              <a:t>a </a:t>
            </a:r>
            <a:r>
              <a:t>sessão antes de permitir o acesso. Sem login válido, o usuário é direcionado para a tela de acesso negado.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0194" y="3738156"/>
            <a:ext cx="4160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Implementação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t>verificarAcesso.php utiliza a sessão PHP para verificar se $_SESSION['logado'] está definida.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01384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72408" y="109728"/>
            <a:ext cx="264687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Menu </a:t>
            </a:r>
            <a:r>
              <a:t>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Após a autenticação, o usuário encontra as principais funções do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93074"/>
            <a:ext cx="7507224" cy="5033988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enu_principal.png"/>
          <p:cNvPicPr>
            <a:picLocks noChangeAspect="1"/>
          </p:cNvPicPr>
          <p:nvPr/>
        </p:nvPicPr>
        <p:blipFill>
          <a:blip r:embed="rId2"/>
          <a:srcRect l="18249" r="18574" b="11177"/>
          <a:stretch>
            <a:fillRect/>
          </a:stretch>
        </p:blipFill>
        <p:spPr>
          <a:xfrm>
            <a:off x="1858192" y="2188600"/>
            <a:ext cx="4650377" cy="3042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57911" y="1735203"/>
            <a:ext cx="3520440" cy="371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Adicionar: abre o formulário para cadastrar um novo amigo.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Listar: apresenta os amigos cadastrados e disponibiliza as ações de atualização e exclusão.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Logout: encerra a sessão do usuário.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O menu funciona como ponto central de navegação do sistema.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01384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6842" y="109728"/>
            <a:ext cx="303801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CRUD </a:t>
            </a:r>
            <a:r>
              <a:t>de Amigos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As quatro operações fundamentais do cadastro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492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CREATE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rPr b="1"/>
              <a:t>Cadastrar</a:t>
            </a:r>
            <a:r>
              <a:t/>
            </a:r>
            <a:br/>
            <a:r>
              <a:t>Inserir um novo amigo no banco de dados.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READ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rPr b="1"/>
              <a:t>Listar</a:t>
            </a:r>
            <a:r>
              <a:t/>
            </a:r>
            <a:br/>
            <a:r>
              <a:t>Consultar e visualizar os amigos cadastrados.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53492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UPDATE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rPr b="1"/>
              <a:t>Atualizar</a:t>
            </a:r>
            <a:r>
              <a:t/>
            </a:r>
            <a:br/>
            <a:r>
              <a:t>Alterar os dados de um amigo existente.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474720"/>
            <a:ext cx="53492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DELETE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rPr b="1"/>
              <a:t>Excluir</a:t>
            </a:r>
            <a:r>
              <a:t/>
            </a:r>
            <a:br/>
            <a:r>
              <a:t>Remover um amigo após confirmação.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5532120"/>
            <a:ext cx="6217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/>
              <a:t>Dados </a:t>
            </a:r>
            <a:r>
              <a:rPr smtClean="0"/>
              <a:t>trabalhados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t>Código • Nome • Apelido • E-mail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501384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58591" y="109728"/>
            <a:ext cx="547451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CREATE </a:t>
            </a:r>
            <a:r>
              <a:t>— Cadastro de Amigos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Inserção de um novo registro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078991"/>
            <a:ext cx="6775704" cy="5303519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2390" y="1344930"/>
            <a:ext cx="3977639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O formulário apresenta os campos necessários para o cadastro.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O código é controlado pelo banco de dados.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Nome, apelido e e-mail são enviados ao servidor.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cadastroAction.php executa a operação de INSERT.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Após o cadastro, o novo registro pode ser visualizado na listagem.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01384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10</a:t>
            </a:r>
          </a:p>
        </p:txBody>
      </p:sp>
      <p:pic>
        <p:nvPicPr>
          <p:cNvPr id="1026" name="Picture 2" descr="C:\Users\Marco\Documents\Etec\EAD\Módulo 2\Desenvolvimento de Sistemas II\Agenda 08 - PHP Importação de arquivos, variáveis de sessão, cookies e hospedagem\Fichário\img\inseri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3304" y="1815273"/>
            <a:ext cx="6268632" cy="383095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61152" y="109728"/>
            <a:ext cx="526939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READ </a:t>
            </a:r>
            <a:r>
              <a:t>— Listagem de Amigos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Consulta dos registros armazenados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78992"/>
            <a:ext cx="7461504" cy="5257799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7695" y="1754505"/>
            <a:ext cx="3474720" cy="3347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A tela apresenta os amigos cadastrados em formato de tabela.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Cada registro mostra código, nome, apelido e e-mail.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A listagem disponibiliza as ações de excluir e atualizar.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A consulta utiliza os dados persistidos na tabela amigo.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01384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11</a:t>
            </a:r>
          </a:p>
        </p:txBody>
      </p:sp>
      <p:pic>
        <p:nvPicPr>
          <p:cNvPr id="2050" name="Picture 2" descr="C:\Users\Marco\Documents\Etec\EAD\Módulo 2\Desenvolvimento de Sistemas II\Agenda 08 - PHP Importação de arquivos, variáveis de sessão, cookies e hospedagem\Fichário\img\listage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7492" y="2669666"/>
            <a:ext cx="7034617" cy="2076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75849" y="109728"/>
            <a:ext cx="583999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UPDATE </a:t>
            </a:r>
            <a:r>
              <a:t>— Atualização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Edição de um registro existente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078991"/>
            <a:ext cx="6729984" cy="5239511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tualizacao.png"/>
          <p:cNvPicPr>
            <a:picLocks noChangeAspect="1"/>
          </p:cNvPicPr>
          <p:nvPr/>
        </p:nvPicPr>
        <p:blipFill>
          <a:blip r:embed="rId2"/>
          <a:srcRect r="30961" b="7461"/>
          <a:stretch>
            <a:fillRect/>
          </a:stretch>
        </p:blipFill>
        <p:spPr>
          <a:xfrm>
            <a:off x="618744" y="1823500"/>
            <a:ext cx="6352033" cy="37504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56195" y="1630680"/>
            <a:ext cx="4069080" cy="3832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O sistema identifica o registro pelo ID.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Os dados atuais são carregados no formulário.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O usuário pode alterar nome, apelido e e-mail.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O botão Atualizar envia os dados para processamento.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A operação modifica o registro existente no banco.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01384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23907" y="109728"/>
            <a:ext cx="574388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DELETE </a:t>
            </a:r>
            <a:r>
              <a:t>— Exclusão </a:t>
            </a:r>
            <a:r>
              <a:rPr/>
              <a:t>de </a:t>
            </a:r>
            <a:r>
              <a:rPr lang="pt-BR" dirty="0" smtClean="0"/>
              <a:t>R</a:t>
            </a:r>
            <a:r>
              <a:rPr smtClean="0"/>
              <a:t>egistro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O sistema solicita confirmação antes de excluir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078992"/>
            <a:ext cx="6821424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0485" y="1373505"/>
            <a:ext cx="3931920" cy="420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O registro selecionado é identificado pelo ID.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Os dados do amigo são apresentados para conferência.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A ação exige uma confirmação explícita.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Após a confirmação, o sistema executa a exclusão.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O registro deixa de aparecer na listagem.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01384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13</a:t>
            </a:r>
          </a:p>
        </p:txBody>
      </p:sp>
      <p:pic>
        <p:nvPicPr>
          <p:cNvPr id="3074" name="Picture 2" descr="C:\Users\Marco\Documents\Etec\EAD\Módulo 2\Desenvolvimento de Sistemas II\Agenda 08 - PHP Importação de arquivos, variáveis de sessão, cookies e hospedagem\Fichário\img\exclusa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4781" y="1305465"/>
            <a:ext cx="3971399" cy="48505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89392" y="109728"/>
            <a:ext cx="501291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Fluxo </a:t>
            </a:r>
            <a:r>
              <a:rPr lang="pt-BR" dirty="0" smtClean="0"/>
              <a:t>C</a:t>
            </a:r>
            <a:r>
              <a:rPr smtClean="0"/>
              <a:t>ompleto </a:t>
            </a:r>
            <a:r>
              <a:rPr/>
              <a:t>de </a:t>
            </a:r>
            <a:r>
              <a:rPr lang="pt-BR" dirty="0" smtClean="0"/>
              <a:t>U</a:t>
            </a:r>
            <a:r>
              <a:rPr smtClean="0"/>
              <a:t>tilização</a:t>
            </a: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26492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01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rPr b="1"/>
              <a:t>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26492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02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rPr b="1"/>
              <a:t>Menu Principal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26492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03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rPr b="1"/>
              <a:t>Adicionar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19" y="126492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04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rPr b="1"/>
              <a:t>Listar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99085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05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rPr b="1"/>
              <a:t>Atualizar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99085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06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rPr b="1"/>
              <a:t>Excluir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59" y="299085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07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rPr b="1"/>
              <a:t>Logout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89169"/>
            <a:ext cx="10332720" cy="1183005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t>Roteiro recomendado para </a:t>
            </a:r>
            <a:r>
              <a:rPr/>
              <a:t>a </a:t>
            </a:r>
            <a:r>
              <a:rPr smtClean="0"/>
              <a:t>demonstração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t>Entrar no </a:t>
            </a:r>
            <a:r>
              <a:rPr/>
              <a:t>sistema </a:t>
            </a:r>
            <a:r>
              <a:rPr lang="pt-BR" dirty="0" smtClean="0"/>
              <a:t>-&gt; </a:t>
            </a:r>
            <a:r>
              <a:rPr smtClean="0"/>
              <a:t>mostrar </a:t>
            </a:r>
            <a:r>
              <a:t>o </a:t>
            </a:r>
            <a:r>
              <a:rPr/>
              <a:t>menu </a:t>
            </a:r>
            <a:r>
              <a:rPr lang="pt-BR" dirty="0" smtClean="0"/>
              <a:t>-&gt;</a:t>
            </a:r>
            <a:r>
              <a:rPr smtClean="0"/>
              <a:t> </a:t>
            </a:r>
            <a:r>
              <a:t>cadastrar um </a:t>
            </a:r>
            <a:r>
              <a:rPr/>
              <a:t>amigo </a:t>
            </a:r>
            <a:r>
              <a:rPr lang="pt-BR" dirty="0" smtClean="0"/>
              <a:t>-&gt;</a:t>
            </a:r>
            <a:r>
              <a:rPr smtClean="0"/>
              <a:t> </a:t>
            </a:r>
            <a:r>
              <a:t>conferir na </a:t>
            </a:r>
            <a:r>
              <a:rPr/>
              <a:t>listagem </a:t>
            </a:r>
            <a:r>
              <a:rPr lang="pt-BR" dirty="0" smtClean="0"/>
              <a:t>-&gt;</a:t>
            </a:r>
            <a:r>
              <a:rPr smtClean="0"/>
              <a:t> </a:t>
            </a:r>
            <a:r>
              <a:t>alterar o </a:t>
            </a:r>
            <a:r>
              <a:rPr/>
              <a:t>registro </a:t>
            </a:r>
            <a:r>
              <a:rPr lang="pt-BR" dirty="0" smtClean="0"/>
              <a:t>-&gt;</a:t>
            </a:r>
            <a:r>
              <a:rPr smtClean="0"/>
              <a:t> </a:t>
            </a:r>
            <a:r>
              <a:t>excluir o </a:t>
            </a:r>
            <a:r>
              <a:rPr/>
              <a:t>registro </a:t>
            </a:r>
            <a:r>
              <a:rPr lang="pt-BR" dirty="0" smtClean="0"/>
              <a:t>-&gt;</a:t>
            </a:r>
            <a:r>
              <a:rPr smtClean="0"/>
              <a:t> </a:t>
            </a:r>
            <a:r>
              <a:t>encerrar a sessão.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501384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75509" y="109728"/>
            <a:ext cx="364067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Testes </a:t>
            </a:r>
            <a:r>
              <a:rPr/>
              <a:t>e </a:t>
            </a:r>
            <a:r>
              <a:rPr lang="pt-BR" dirty="0" smtClean="0"/>
              <a:t>R</a:t>
            </a:r>
            <a:r>
              <a:rPr smtClean="0"/>
              <a:t>esultados</a:t>
            </a: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960120"/>
            <a:ext cx="10789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Autenticação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t>Login válido libera o sistema; login inválido apresenta a mensagem correspondente.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68424"/>
            <a:ext cx="10789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t>Controle </a:t>
            </a:r>
            <a:r>
              <a:rPr/>
              <a:t>de </a:t>
            </a:r>
            <a:r>
              <a:rPr smtClean="0"/>
              <a:t>acesso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t>Acesso sem sessão é direcionado para a tela de acesso negado.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67203"/>
            <a:ext cx="10789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CREATE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t>Novo amigo é inserido e passa a aparecer na listagem.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85032"/>
            <a:ext cx="10789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READ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t>Registros cadastrados são exibidos com seus 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93336"/>
            <a:ext cx="10789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UPDATE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t>Dados alterados são refletidos no registro existente.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501640"/>
            <a:ext cx="10789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DELETE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t>Registro confirmado para exclusão deixa de aparecer na listagem.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501384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81752" y="109728"/>
            <a:ext cx="462819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Habilidades </a:t>
            </a:r>
            <a:r>
              <a:rPr lang="pt-BR" dirty="0" smtClean="0"/>
              <a:t>D</a:t>
            </a:r>
            <a:r>
              <a:rPr smtClean="0"/>
              <a:t>emonstradas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38210" y="1358265"/>
            <a:ext cx="7915275" cy="385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• Desenvolvimento de páginas dinâmicas com PHP.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• Manipulação de formulários e dados enviados por POST.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• Conexão e persistência de informações em MySQL.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• Implementação das operações CREATE, READ, UPDATE e DELETE.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• Uso de sessões PHP para autenticação e controle de acesso.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• Integração entre interface, processamento e banco de dados.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• Construção de uma interface utilizando W3.CSS e Font Awesome.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01384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18657" y="109728"/>
            <a:ext cx="195438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Conclusão</a:t>
            </a: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5187" y="1280160"/>
            <a:ext cx="10561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t>Resultado </a:t>
            </a:r>
            <a:r>
              <a:rPr/>
              <a:t>do </a:t>
            </a:r>
            <a:r>
              <a:rPr smtClean="0"/>
              <a:t>projeto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t>O sistema reúne autenticação, controle de acesso e gerenciamento de amigos em uma aplicação web integrada ao banco de dados.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3355" y="2971800"/>
            <a:ext cx="940498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• O login controla a entrada no sistema.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• O menu organiza as principais funcionalidades.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• O CRUD permite administrar os registros de amigos.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• As operações são persistidas no banco de dados.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• O projeto demonstra, na prática, conceitos trabalhados em Programação Web II.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31550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01384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675"/>
            <a:ext cx="12191695" cy="6858000"/>
          </a:xfrm>
          <a:prstGeom prst="rect">
            <a:avLst/>
          </a:prstGeom>
          <a:solidFill>
            <a:srgbClr val="F8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43280" y="109728"/>
            <a:ext cx="470513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mtClean="0"/>
              <a:t>Referências </a:t>
            </a:r>
            <a:r>
              <a:rPr/>
              <a:t>e </a:t>
            </a:r>
            <a:r>
              <a:rPr lang="pt-BR" dirty="0" smtClean="0"/>
              <a:t>O</a:t>
            </a:r>
            <a:r>
              <a:rPr smtClean="0"/>
              <a:t>bservações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68627" y="1301115"/>
            <a:ext cx="885444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Projeto </a:t>
            </a:r>
            <a:r>
              <a:rPr/>
              <a:t>desenvolvido </a:t>
            </a:r>
            <a:r>
              <a:rPr lang="pt-BR" dirty="0" smtClean="0"/>
              <a:t>com </a:t>
            </a:r>
            <a:r>
              <a:rPr smtClean="0"/>
              <a:t>arquivos </a:t>
            </a:r>
            <a:r>
              <a:t>PHP e telas fornecidos para a atividade.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Centro Paula Souza — Curso Técnico em Desenvolvimento de Sistemas.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W3.CSS — recurso de estilização utilizado pelo projeto.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Font Awesome — biblioteca de ícones utilizada na interface.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Materiais curriculares e conteúdos trabalhados </a:t>
            </a:r>
            <a:r>
              <a:rPr/>
              <a:t>em </a:t>
            </a:r>
            <a:r>
              <a:rPr lang="pt-BR" dirty="0" smtClean="0"/>
              <a:t>Desenvolvimento de Sistemas</a:t>
            </a:r>
            <a:r>
              <a:rPr smtClean="0"/>
              <a:t> </a:t>
            </a:r>
            <a:r>
              <a:t>II.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2502" y="4596765"/>
            <a:ext cx="780669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600" b="1">
                <a:solidFill>
                  <a:srgbClr val="006058"/>
                </a:solidFill>
              </a:defRPr>
            </a:pPr>
            <a:r>
              <a:rPr smtClean="0"/>
              <a:t>Observação</a:t>
            </a:r>
            <a:endParaRPr lang="pt-BR" dirty="0" smtClean="0"/>
          </a:p>
          <a:p>
            <a:pPr algn="ctr">
              <a:defRPr sz="1600" b="1">
                <a:solidFill>
                  <a:srgbClr val="006058"/>
                </a:solidFill>
              </a:defRPr>
            </a:pPr>
            <a:endParaRPr sz="500"/>
          </a:p>
          <a:p>
            <a:pPr algn="ctr">
              <a:defRPr sz="1300">
                <a:solidFill>
                  <a:srgbClr val="282828"/>
                </a:solidFill>
              </a:defRPr>
            </a:pPr>
            <a:r>
              <a:t>As telas apresentadas nesta versão foram inseridas a partir dos prints reais enviados do sistema, permitindo relacionar a explicação técnica com a demonstração visual.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92240"/>
            <a:ext cx="11247120" cy="1828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31550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rPr lang="pt-BR" dirty="0" smtClean="0"/>
              <a:t>Desenvolvimento de Sistemas II • </a:t>
            </a:r>
            <a:r>
              <a:rPr lang="en-US" sz="900" dirty="0" err="1" smtClean="0"/>
              <a:t>Projeto</a:t>
            </a:r>
            <a:r>
              <a:rPr lang="en-US" sz="900" dirty="0" smtClean="0"/>
              <a:t> </a:t>
            </a:r>
            <a:r>
              <a:rPr lang="en-US" sz="900" dirty="0" err="1" smtClean="0"/>
              <a:t>Lista</a:t>
            </a:r>
            <a:r>
              <a:rPr lang="en-US" sz="900" dirty="0" smtClean="0"/>
              <a:t> de Amigos</a:t>
            </a:r>
          </a:p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endParaRPr lang="pt-BR" dirty="0"/>
          </a:p>
        </p:txBody>
      </p:sp>
      <p:sp>
        <p:nvSpPr>
          <p:cNvPr id="9" name="TextBox 8"/>
          <p:cNvSpPr txBox="1"/>
          <p:nvPr/>
        </p:nvSpPr>
        <p:spPr>
          <a:xfrm>
            <a:off x="11109960" y="6501384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6058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1361</Words>
  <Application>Microsoft Macintosh PowerPoint</Application>
  <PresentationFormat>Personalizar</PresentationFormat>
  <Paragraphs>244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— Sistema de Amigos (CRUD + Login) — versão com telas</dc:title>
  <dc:subject>Atividade acadêmica de Programação Web II</dc:subject>
  <dc:creator>Projeto acadêmico</dc:creator>
  <cp:keywords>PHP, MySQL, CRUD, Login, Programação Web II, ETEC</cp:keywords>
  <dc:description>generated using python-pptx</dc:description>
  <cp:lastModifiedBy>Marco</cp:lastModifiedBy>
  <cp:revision>9</cp:revision>
  <dcterms:created xsi:type="dcterms:W3CDTF">2013-01-27T09:14:16Z</dcterms:created>
  <dcterms:modified xsi:type="dcterms:W3CDTF">2026-09-28T01:28:55Z</dcterms:modified>
  <cp:category/>
</cp:coreProperties>
</file>